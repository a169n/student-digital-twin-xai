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F1</c:v>
                </c:pt>
              </c:strCache>
            </c:strRef>
          </c:tx>
          <c:spPr>
            <a:solidFill>
              <a:srgbClr val="2B2B2B"/>
            </a:solidFill>
            <a:ln w="6350">
              <a:solidFill>
                <a:srgbClr val="000000"/>
              </a:solidFill>
            </a:ln>
          </c:spPr>
          <c:invertIfNegative val="1"/>
          <c:cat>
            <c:strRef>
              <c:f>Sheet1!$A$2:$A$5</c:f>
              <c:strCache>
                <c:ptCount val="4"/>
                <c:pt idx="0">
                  <c:v>Logistic
Regression</c:v>
                </c:pt>
                <c:pt idx="1">
                  <c:v>Random
Forest</c:v>
                </c:pt>
                <c:pt idx="2">
                  <c:v>Gradient Boosting
(LMS-only)</c:v>
                </c:pt>
                <c:pt idx="3">
                  <c:v>GB + Twin + XAI
(this work)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0.85399999999999998</c:v>
                </c:pt>
                <c:pt idx="1">
                  <c:v>0.86099999999999999</c:v>
                </c:pt>
                <c:pt idx="2">
                  <c:v>0.86299999999999999</c:v>
                </c:pt>
                <c:pt idx="3">
                  <c:v>0.86099999999999999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54E0-484A-B7CA-73151FBC961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A6A6A6"/>
            </a:solidFill>
            <a:ln w="6350">
              <a:solidFill>
                <a:srgbClr val="000000"/>
              </a:solidFill>
            </a:ln>
          </c:spPr>
          <c:invertIfNegative val="1"/>
          <c:cat>
            <c:strRef>
              <c:f>Sheet1!$A$2:$A$5</c:f>
              <c:strCache>
                <c:ptCount val="4"/>
                <c:pt idx="0">
                  <c:v>Logistic
Regression</c:v>
                </c:pt>
                <c:pt idx="1">
                  <c:v>Random
Forest</c:v>
                </c:pt>
                <c:pt idx="2">
                  <c:v>Gradient Boosting
(LMS-only)</c:v>
                </c:pt>
                <c:pt idx="3">
                  <c:v>GB + Twin + XAI
(this work)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0.95099999999999996</c:v>
                </c:pt>
                <c:pt idx="1">
                  <c:v>0.94699999999999995</c:v>
                </c:pt>
                <c:pt idx="2">
                  <c:v>0.95299999999999996</c:v>
                </c:pt>
                <c:pt idx="3">
                  <c:v>0.95299999999999996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54E0-484A-B7CA-73151FBC96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404040"/>
            </a:solidFill>
          </a:ln>
        </c:spPr>
        <c:txPr>
          <a:bodyPr/>
          <a:lstStyle/>
          <a:p>
            <a:pPr>
              <a:defRPr sz="900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"/>
          <c:min val="0.8"/>
        </c:scaling>
        <c:delete val="0"/>
        <c:axPos val="l"/>
        <c:majorGridlines>
          <c:spPr>
            <a:ln w="6350">
              <a:solidFill>
                <a:srgbClr val="D9D9D9"/>
              </a:solidFill>
            </a:ln>
          </c:spPr>
        </c:majorGridlines>
        <c:numFmt formatCode="0.00" sourceLinked="0"/>
        <c:majorTickMark val="out"/>
        <c:minorTickMark val="none"/>
        <c:tickLblPos val="nextTo"/>
        <c:spPr>
          <a:ln>
            <a:solidFill>
              <a:srgbClr val="404040"/>
            </a:solidFill>
          </a:ln>
        </c:spPr>
        <c:txPr>
          <a:bodyPr/>
          <a:lstStyle/>
          <a:p>
            <a:pPr>
              <a:defRPr sz="900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000000"/>
              </a:solidFill>
              <a:latin typeface="Calibri"/>
            </a:defRPr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RMSE (final score 0-100)</c:v>
                </c:pt>
              </c:strCache>
            </c:strRef>
          </c:tx>
          <c:spPr>
            <a:solidFill>
              <a:srgbClr val="707070"/>
            </a:solidFill>
            <a:ln w="6350">
              <a:solidFill>
                <a:srgbClr val="000000"/>
              </a:solidFill>
            </a:ln>
          </c:spPr>
          <c:invertIfNegative val="1"/>
          <c:cat>
            <c:strRef>
              <c:f>Sheet1!$A$2:$A$4</c:f>
              <c:strCache>
                <c:ptCount val="3"/>
                <c:pt idx="0">
                  <c:v>Random Forest</c:v>
                </c:pt>
                <c:pt idx="1">
                  <c:v>GB (LMS-only)</c:v>
                </c:pt>
                <c:pt idx="2">
                  <c:v>GB + Twin
(this work)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13.632999999999999</c:v>
                </c:pt>
                <c:pt idx="1">
                  <c:v>12.657999999999999</c:v>
                </c:pt>
                <c:pt idx="2">
                  <c:v>12.724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16DB-4E3E-AC3D-80EDEA7EC7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404040"/>
            </a:solidFill>
          </a:ln>
        </c:spPr>
        <c:txPr>
          <a:bodyPr/>
          <a:lstStyle/>
          <a:p>
            <a:pPr>
              <a:defRPr sz="900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4"/>
          <c:min val="11"/>
        </c:scaling>
        <c:delete val="0"/>
        <c:axPos val="l"/>
        <c:majorGridlines>
          <c:spPr>
            <a:ln w="6350">
              <a:solidFill>
                <a:srgbClr val="D9D9D9"/>
              </a:solidFill>
            </a:ln>
          </c:spPr>
        </c:majorGridlines>
        <c:numFmt formatCode="0.0" sourceLinked="0"/>
        <c:majorTickMark val="out"/>
        <c:minorTickMark val="none"/>
        <c:tickLblPos val="nextTo"/>
        <c:spPr>
          <a:ln>
            <a:solidFill>
              <a:srgbClr val="404040"/>
            </a:solidFill>
          </a:ln>
        </c:spPr>
        <c:txPr>
          <a:bodyPr/>
          <a:lstStyle/>
          <a:p>
            <a:pPr>
              <a:defRPr sz="900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DDD · student-grouped</c:v>
                </c:pt>
              </c:strCache>
            </c:strRef>
          </c:tx>
          <c:spPr>
            <a:solidFill>
              <a:srgbClr val="2B2B2B"/>
            </a:solidFill>
            <a:ln w="6350">
              <a:solidFill>
                <a:srgbClr val="000000"/>
              </a:solidFill>
            </a:ln>
          </c:spPr>
          <c:invertIfNegative val="1"/>
          <c:cat>
            <c:strRef>
              <c:f>Sheet1!$A$2:$A$5</c:f>
              <c:strCache>
                <c:ptCount val="4"/>
                <c:pt idx="0">
                  <c:v>A_simple</c:v>
                </c:pt>
                <c:pt idx="1">
                  <c:v>B_lms</c:v>
                </c:pt>
                <c:pt idx="2">
                  <c:v>B_lms
+mastery</c:v>
                </c:pt>
                <c:pt idx="3">
                  <c:v>C_twin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13.866</c:v>
                </c:pt>
                <c:pt idx="1">
                  <c:v>12.66</c:v>
                </c:pt>
                <c:pt idx="2">
                  <c:v>12.721</c:v>
                </c:pt>
                <c:pt idx="3">
                  <c:v>12.641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6BDF-4B48-922F-663274D8C20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DDD · temporal-forward</c:v>
                </c:pt>
              </c:strCache>
            </c:strRef>
          </c:tx>
          <c:spPr>
            <a:solidFill>
              <a:srgbClr val="707070"/>
            </a:solidFill>
            <a:ln w="6350">
              <a:solidFill>
                <a:srgbClr val="000000"/>
              </a:solidFill>
            </a:ln>
          </c:spPr>
          <c:invertIfNegative val="1"/>
          <c:cat>
            <c:strRef>
              <c:f>Sheet1!$A$2:$A$5</c:f>
              <c:strCache>
                <c:ptCount val="4"/>
                <c:pt idx="0">
                  <c:v>A_simple</c:v>
                </c:pt>
                <c:pt idx="1">
                  <c:v>B_lms</c:v>
                </c:pt>
                <c:pt idx="2">
                  <c:v>B_lms
+mastery</c:v>
                </c:pt>
                <c:pt idx="3">
                  <c:v>C_twin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13.666</c:v>
                </c:pt>
                <c:pt idx="1">
                  <c:v>9.5609999999999999</c:v>
                </c:pt>
                <c:pt idx="2">
                  <c:v>9.18</c:v>
                </c:pt>
                <c:pt idx="3">
                  <c:v>9.5850000000000009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6BDF-4B48-922F-663274D8C20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BBB · student-grouped</c:v>
                </c:pt>
              </c:strCache>
            </c:strRef>
          </c:tx>
          <c:spPr>
            <a:solidFill>
              <a:srgbClr val="A6A6A6"/>
            </a:solidFill>
            <a:ln w="6350">
              <a:solidFill>
                <a:srgbClr val="000000"/>
              </a:solidFill>
            </a:ln>
          </c:spPr>
          <c:invertIfNegative val="1"/>
          <c:cat>
            <c:strRef>
              <c:f>Sheet1!$A$2:$A$5</c:f>
              <c:strCache>
                <c:ptCount val="4"/>
                <c:pt idx="0">
                  <c:v>A_simple</c:v>
                </c:pt>
                <c:pt idx="1">
                  <c:v>B_lms</c:v>
                </c:pt>
                <c:pt idx="2">
                  <c:v>B_lms
+mastery</c:v>
                </c:pt>
                <c:pt idx="3">
                  <c:v>C_twin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12.387</c:v>
                </c:pt>
                <c:pt idx="1">
                  <c:v>10.696999999999999</c:v>
                </c:pt>
                <c:pt idx="2">
                  <c:v>10.62</c:v>
                </c:pt>
                <c:pt idx="3">
                  <c:v>10.61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6BDF-4B48-922F-663274D8C20F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BBB · temporal-forward</c:v>
                </c:pt>
              </c:strCache>
            </c:strRef>
          </c:tx>
          <c:spPr>
            <a:solidFill>
              <a:srgbClr val="D0D0D0"/>
            </a:solidFill>
            <a:ln w="6350">
              <a:solidFill>
                <a:srgbClr val="000000"/>
              </a:solidFill>
            </a:ln>
          </c:spPr>
          <c:invertIfNegative val="1"/>
          <c:cat>
            <c:strRef>
              <c:f>Sheet1!$A$2:$A$5</c:f>
              <c:strCache>
                <c:ptCount val="4"/>
                <c:pt idx="0">
                  <c:v>A_simple</c:v>
                </c:pt>
                <c:pt idx="1">
                  <c:v>B_lms</c:v>
                </c:pt>
                <c:pt idx="2">
                  <c:v>B_lms
+mastery</c:v>
                </c:pt>
                <c:pt idx="3">
                  <c:v>C_twin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10.23</c:v>
                </c:pt>
                <c:pt idx="1">
                  <c:v>6.3109999999999999</c:v>
                </c:pt>
                <c:pt idx="2">
                  <c:v>5.2839999999999998</c:v>
                </c:pt>
                <c:pt idx="3">
                  <c:v>5.5460000000000003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6BDF-4B48-922F-663274D8C20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404040"/>
            </a:solidFill>
          </a:ln>
        </c:spPr>
        <c:txPr>
          <a:bodyPr/>
          <a:lstStyle/>
          <a:p>
            <a:pPr>
              <a:defRPr sz="900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5"/>
          <c:min val="0"/>
        </c:scaling>
        <c:delete val="0"/>
        <c:axPos val="l"/>
        <c:majorGridlines>
          <c:spPr>
            <a:ln w="6350">
              <a:solidFill>
                <a:srgbClr val="D9D9D9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>
            <a:solidFill>
              <a:srgbClr val="404040"/>
            </a:solidFill>
          </a:ln>
        </c:spPr>
        <c:txPr>
          <a:bodyPr/>
          <a:lstStyle/>
          <a:p>
            <a:pPr>
              <a:defRPr sz="900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000000"/>
              </a:solidFill>
              <a:latin typeface="Calibri"/>
            </a:defRPr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1554480"/>
            <a:ext cx="1054303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000000"/>
                </a:solidFill>
                <a:latin typeface="Calibri"/>
              </a:rPr>
              <a:t>An Explainable Student Digital Twin for Teacher-Facing Learning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4114800"/>
            <a:ext cx="9811512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 b="0" i="0">
                <a:solidFill>
                  <a:srgbClr val="000000"/>
                </a:solidFill>
                <a:latin typeface="Calibri"/>
              </a:rPr>
              <a:t>Aibyn Talgat · Astana IT University · [[Educational program]] · [[study period]]</a:t>
            </a:r>
          </a:p>
          <a:p>
            <a:pPr algn="ctr">
              <a:spcAft>
                <a:spcPts val="800"/>
              </a:spcAft>
            </a:pPr>
            <a:r>
              <a:rPr sz="1600" b="0" i="1">
                <a:solidFill>
                  <a:srgbClr val="000000"/>
                </a:solidFill>
                <a:latin typeface="Calibri"/>
              </a:rPr>
              <a:t>Master's dissertation</a:t>
            </a:r>
          </a:p>
          <a:p>
            <a:pPr algn="ctr">
              <a:spcAft>
                <a:spcPts val="800"/>
              </a:spcAft>
            </a:pPr>
            <a:r>
              <a:rPr sz="1600" b="0" i="0">
                <a:solidFill>
                  <a:srgbClr val="000000"/>
                </a:solidFill>
                <a:latin typeface="Calibri"/>
              </a:rPr>
              <a:t>Scientific supervisor: [[name, academic degree and title, affiliation]]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00000"/>
                </a:solidFill>
                <a:latin typeface="Calibri"/>
              </a:rPr>
              <a:t>1. Relevance of the research / Актуальность исследования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91672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700" b="0" i="0">
                <a:solidFill>
                  <a:srgbClr val="000000"/>
                </a:solidFill>
                <a:latin typeface="Calibri"/>
              </a:rPr>
              <a:t>•  LMS store large volumes of learning activity, but their built-in analytics are descriptive — they rarely predict or explain student outcomes.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700" b="0" i="0">
                <a:solidFill>
                  <a:srgbClr val="000000"/>
                </a:solidFill>
                <a:latin typeface="Calibri"/>
              </a:rPr>
              <a:t>•  Teachers need timely, interpretable, per-student insight to intervene early, not retrospective aggregate dashboards.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700" b="0" i="0">
                <a:solidFill>
                  <a:srgbClr val="000000"/>
                </a:solidFill>
                <a:latin typeface="Calibri"/>
              </a:rPr>
              <a:t>•  Modern ML risk models are increasingly accurate but opaque ("black box"), which limits teacher trust and real adoption.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700" b="0" i="0">
                <a:solidFill>
                  <a:srgbClr val="000000"/>
                </a:solidFill>
                <a:latin typeface="Calibri"/>
              </a:rPr>
              <a:t>•  An open question in learning analytics: do engineered "digital-twin" features actually beat a competent LMS baseline — and are the explanations stable enough to rely on?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700" b="0" i="0">
                <a:solidFill>
                  <a:srgbClr val="000000"/>
                </a:solidFill>
                <a:latin typeface="Calibri"/>
              </a:rPr>
              <a:t>•  Reproducible, leakage-aware and honest evaluation (including negative results) is under-reported in the field.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00000"/>
                </a:solidFill>
                <a:latin typeface="Calibri"/>
              </a:rPr>
              <a:t>2. The purpose and objectives of the research / Цель и задачи исследования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91672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500" b="1" i="0">
                <a:solidFill>
                  <a:srgbClr val="000000"/>
                </a:solidFill>
                <a:latin typeface="Calibri"/>
              </a:rPr>
              <a:t>•  Purpose: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000000"/>
                </a:solidFill>
                <a:latin typeface="Calibri"/>
              </a:rPr>
              <a:t>–  Design and rigorously evaluate an explainable, teacher-facing Student Digital Twin — a lean, time-aware weekly student-state representation with an XAI layer — and test whether feature richness improves prediction.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500" b="1" i="0">
                <a:solidFill>
                  <a:srgbClr val="000000"/>
                </a:solidFill>
                <a:latin typeface="Calibri"/>
              </a:rPr>
              <a:t>•  Objectives: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000000"/>
                </a:solidFill>
                <a:latin typeface="Calibri"/>
              </a:rPr>
              <a:t>–  Build a versioned, leakage-aware weekly student-state data model and an end-to-end teacher-facing interface.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000000"/>
                </a:solidFill>
                <a:latin typeface="Calibri"/>
              </a:rPr>
              <a:t>–  Implement and compare a model family: Ridge / Linear, Logistic Regression, Random Forest, Gradient Boosting (grade and pass-risk).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000000"/>
                </a:solidFill>
                <a:latin typeface="Calibri"/>
              </a:rPr>
              <a:t>–  Run a nested feature ablation (A_simple → B_lms → B_lms+mastery → C_twin) on real public data.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000000"/>
                </a:solidFill>
                <a:latin typeface="Calibri"/>
              </a:rPr>
              <a:t>–  Add a perturbation-based XAI layer (permutation importance + local perturbation) and measure explanation stability (Kendall τ).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000000"/>
                </a:solidFill>
                <a:latin typeface="Calibri"/>
              </a:rPr>
              <a:t>–  Externally validate across two OULAD cohorts (DDD, BBB) and a second institution (KU Leuven).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00000"/>
                </a:solidFill>
                <a:latin typeface="Calibri"/>
              </a:rPr>
              <a:t>4. Object and subject of research / Объект и предмет исследования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91672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700" b="1" i="0">
                <a:solidFill>
                  <a:srgbClr val="000000"/>
                </a:solidFill>
                <a:latin typeface="Calibri"/>
              </a:rPr>
              <a:t>•  Object:</a:t>
            </a:r>
          </a:p>
          <a:p>
            <a:pPr lvl="1">
              <a:lnSpc>
                <a:spcPct val="115000"/>
              </a:lnSpc>
              <a:spcAft>
                <a:spcPts val="600"/>
              </a:spcAft>
            </a:pPr>
            <a:r>
              <a:rPr sz="1600" b="0" i="0">
                <a:solidFill>
                  <a:srgbClr val="000000"/>
                </a:solidFill>
                <a:latin typeface="Calibri"/>
              </a:rPr>
              <a:t>–  The process of teacher-facing learning analytics — predicting and explaining student academic progression from LMS interaction and assessment data.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endParaRPr sz="1600" b="0" i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700" b="1" i="0">
                <a:solidFill>
                  <a:srgbClr val="000000"/>
                </a:solidFill>
                <a:latin typeface="Calibri"/>
              </a:rPr>
              <a:t>•  Subject:</a:t>
            </a:r>
          </a:p>
          <a:p>
            <a:pPr lvl="1">
              <a:lnSpc>
                <a:spcPct val="115000"/>
              </a:lnSpc>
              <a:spcAft>
                <a:spcPts val="600"/>
              </a:spcAft>
            </a:pPr>
            <a:r>
              <a:rPr sz="1600" b="0" i="0">
                <a:solidFill>
                  <a:srgbClr val="000000"/>
                </a:solidFill>
                <a:latin typeface="Calibri"/>
              </a:rPr>
              <a:t>–  An explainable Student Digital Twin representation (lean weekly student-state features) and the predictive value plus explanation stability of its engineered features relative to a competent LMS baseline.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00000"/>
                </a:solidFill>
                <a:latin typeface="Calibri"/>
              </a:rPr>
              <a:t>5. Scientific methods used / Применяемые научные методы.  Initial data / Используемые исходные данные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577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 i="0">
                <a:solidFill>
                  <a:srgbClr val="000000"/>
                </a:solidFill>
                <a:latin typeface="Calibri"/>
              </a:rPr>
              <a:t>•  Methods:</a:t>
            </a:r>
          </a:p>
          <a:p>
            <a:pPr lvl="1">
              <a:lnSpc>
                <a:spcPct val="105000"/>
              </a:lnSpc>
              <a:spcAft>
                <a:spcPts val="600"/>
              </a:spcAft>
            </a:pPr>
            <a:r>
              <a:rPr sz="1200" b="0" i="0">
                <a:solidFill>
                  <a:srgbClr val="000000"/>
                </a:solidFill>
                <a:latin typeface="Calibri"/>
              </a:rPr>
              <a:t>–  Supervised ML: Ridge/Linear (grade), Logistic Regression, Random Forest, Gradient Boosting (pass).</a:t>
            </a:r>
          </a:p>
          <a:p>
            <a:pPr lvl="1">
              <a:lnSpc>
                <a:spcPct val="105000"/>
              </a:lnSpc>
              <a:spcAft>
                <a:spcPts val="600"/>
              </a:spcAft>
            </a:pPr>
            <a:r>
              <a:rPr sz="1200" b="0" i="0">
                <a:solidFill>
                  <a:srgbClr val="000000"/>
                </a:solidFill>
                <a:latin typeface="Calibri"/>
              </a:rPr>
              <a:t>–  Nested feature ablation with fixed-model comparison.</a:t>
            </a:r>
          </a:p>
          <a:p>
            <a:pPr lvl="1">
              <a:lnSpc>
                <a:spcPct val="105000"/>
              </a:lnSpc>
              <a:spcAft>
                <a:spcPts val="600"/>
              </a:spcAft>
            </a:pPr>
            <a:r>
              <a:rPr sz="1200" b="0" i="0">
                <a:solidFill>
                  <a:srgbClr val="000000"/>
                </a:solidFill>
                <a:latin typeface="Calibri"/>
              </a:rPr>
              <a:t>–  Two splits: student-grouped (generalization) and temporal-forward (early warning).</a:t>
            </a:r>
          </a:p>
          <a:p>
            <a:pPr lvl="1">
              <a:lnSpc>
                <a:spcPct val="105000"/>
              </a:lnSpc>
              <a:spcAft>
                <a:spcPts val="600"/>
              </a:spcAft>
            </a:pPr>
            <a:r>
              <a:rPr sz="1200" b="0" i="0">
                <a:solidFill>
                  <a:srgbClr val="000000"/>
                </a:solidFill>
                <a:latin typeface="Calibri"/>
              </a:rPr>
              <a:t>–  Perturbation XAI: permutation importance + local median-replacement.</a:t>
            </a:r>
          </a:p>
          <a:p>
            <a:pPr lvl="1">
              <a:lnSpc>
                <a:spcPct val="105000"/>
              </a:lnSpc>
              <a:spcAft>
                <a:spcPts val="600"/>
              </a:spcAft>
            </a:pPr>
            <a:r>
              <a:rPr sz="1200" b="0" i="0">
                <a:solidFill>
                  <a:srgbClr val="000000"/>
                </a:solidFill>
                <a:latin typeface="Calibri"/>
              </a:rPr>
              <a:t>–  Stability: Kendall τ rank correlation + Jaccard top-k; bootstrap CIs.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 i="0">
                <a:solidFill>
                  <a:srgbClr val="000000"/>
                </a:solidFill>
                <a:latin typeface="Calibri"/>
              </a:rPr>
              <a:t>•  Initial data:</a:t>
            </a:r>
          </a:p>
          <a:p>
            <a:pPr lvl="1">
              <a:lnSpc>
                <a:spcPct val="105000"/>
              </a:lnSpc>
              <a:spcAft>
                <a:spcPts val="600"/>
              </a:spcAft>
            </a:pPr>
            <a:r>
              <a:rPr sz="1200" b="0" i="0">
                <a:solidFill>
                  <a:srgbClr val="000000"/>
                </a:solidFill>
                <a:latin typeface="Calibri"/>
              </a:rPr>
              <a:t>–  OULAD DDD 2013J — 1,938 students, 67,830 weekly snapshots.</a:t>
            </a:r>
          </a:p>
          <a:p>
            <a:pPr lvl="1">
              <a:lnSpc>
                <a:spcPct val="105000"/>
              </a:lnSpc>
              <a:spcAft>
                <a:spcPts val="600"/>
              </a:spcAft>
            </a:pPr>
            <a:r>
              <a:rPr sz="1200" b="0" i="0">
                <a:solidFill>
                  <a:srgbClr val="000000"/>
                </a:solidFill>
                <a:latin typeface="Calibri"/>
              </a:rPr>
              <a:t>–  OULAD BBB 2013J — 2,237 students, 80,532 weekly snapshots.</a:t>
            </a:r>
          </a:p>
          <a:p>
            <a:pPr lvl="1">
              <a:lnSpc>
                <a:spcPct val="105000"/>
              </a:lnSpc>
              <a:spcAft>
                <a:spcPts val="600"/>
              </a:spcAft>
            </a:pPr>
            <a:r>
              <a:rPr sz="1200" b="0" i="0">
                <a:solidFill>
                  <a:srgbClr val="000000"/>
                </a:solidFill>
                <a:latin typeface="Calibri"/>
              </a:rPr>
              <a:t>–  KU Leuven 1819 — 1,495 students (engagement-only).</a:t>
            </a:r>
          </a:p>
          <a:p>
            <a:pPr lvl="1">
              <a:lnSpc>
                <a:spcPct val="105000"/>
              </a:lnSpc>
              <a:spcAft>
                <a:spcPts val="600"/>
              </a:spcAft>
            </a:pPr>
            <a:r>
              <a:rPr sz="1200" b="0" i="0">
                <a:solidFill>
                  <a:srgbClr val="000000"/>
                </a:solidFill>
                <a:latin typeface="Calibri"/>
              </a:rPr>
              <a:t>–  Grain: 1 row = 1 student × 1 week.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309360" y="1188720"/>
          <a:ext cx="5577840" cy="2697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309360" y="932688"/>
            <a:ext cx="5577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 i="0">
                <a:solidFill>
                  <a:srgbClr val="000000"/>
                </a:solidFill>
                <a:latin typeface="Calibri"/>
              </a:rPr>
              <a:t>Classification (pass) — OULAD DDD 2013J, student-grouped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309360" y="4160520"/>
          <a:ext cx="557784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309360" y="3904487"/>
            <a:ext cx="5577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 i="0">
                <a:solidFill>
                  <a:srgbClr val="000000"/>
                </a:solidFill>
                <a:latin typeface="Calibri"/>
              </a:rPr>
              <a:t>Regression (final score) — RMSE, lower is better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00000"/>
                </a:solidFill>
                <a:latin typeface="Calibri"/>
              </a:rPr>
              <a:t>n1. Conclusions on the scientific work done for each task / Выводы по проделанной научной работе по каждой задаче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57607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00" b="0" i="0">
                <a:solidFill>
                  <a:srgbClr val="000000"/>
                </a:solidFill>
                <a:latin typeface="Calibri"/>
              </a:rPr>
              <a:t>•  Data model &amp; UI: a leakage-aware weekly Student Digital Twin and an end-to-end teacher interface were built (reproducible pipeline).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00" b="0" i="0">
                <a:solidFill>
                  <a:srgbClr val="000000"/>
                </a:solidFill>
                <a:latin typeface="Calibri"/>
              </a:rPr>
              <a:t>•  Models: all four families reach F1 0.85–0.86 and ROC-AUC 0.95 on DDD — the pass target is genuinely predictive (never F1 = 1.0).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00" b="0" i="0">
                <a:solidFill>
                  <a:srgbClr val="000000"/>
                </a:solidFill>
                <a:latin typeface="Calibri"/>
              </a:rPr>
              <a:t>•  Ablation (right): engineered Twin value is course- and split-dependent, not robust. Mastery helps only on BBB temporal-forward (6.31 → 5.28 RMSE); on DDD and on student-grouped splits it is null.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00" b="0" i="0">
                <a:solidFill>
                  <a:srgbClr val="000000"/>
                </a:solidFill>
                <a:latin typeface="Calibri"/>
              </a:rPr>
              <a:t>•  XAI: explanations are interpretable but regime-sensitive (see Conclusion).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00" b="0" i="0">
                <a:solidFill>
                  <a:srgbClr val="000000"/>
                </a:solidFill>
                <a:latin typeface="Calibri"/>
              </a:rPr>
              <a:t>•  External check: across 2 OULAD cohorts + KU Leuven, added feature richness does not robustly improve prediction.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92240" y="1417320"/>
          <a:ext cx="5440680" cy="4663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92240" y="1161288"/>
            <a:ext cx="5440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 i="0">
                <a:solidFill>
                  <a:srgbClr val="000000"/>
                </a:solidFill>
                <a:latin typeface="Calibri"/>
              </a:rPr>
              <a:t>Ablation — gradient boosting RMSE (lower is better)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000000"/>
                </a:solidFill>
                <a:latin typeface="Calibri"/>
              </a:rPr>
              <a:t>6. Results of the implementation of the IMWP / Результаты выполнения ИПРМ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000000"/>
                </a:solidFill>
                <a:latin typeface="Calibri"/>
              </a:rPr>
              <a:t>1. Scientific internships / Научная стажировка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54480"/>
          <a:ext cx="11091669" cy="1188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86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19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90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000000"/>
                          </a:solidFill>
                          <a:latin typeface="Calibri"/>
                        </a:rPr>
                        <a:t>№</a:t>
                      </a:r>
                    </a:p>
                  </a:txBody>
                  <a:tcPr marL="54864" marR="54864" marT="27432" marB="27432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000000"/>
                          </a:solidFill>
                          <a:latin typeface="Calibri"/>
                        </a:rPr>
                        <a:t>Internship organization /</a:t>
                      </a:r>
                    </a:p>
                    <a:p>
                      <a:r>
                        <a:rPr sz="1000" b="1" i="0">
                          <a:solidFill>
                            <a:srgbClr val="000000"/>
                          </a:solidFill>
                          <a:latin typeface="Calibri"/>
                        </a:rPr>
                        <a:t>Место прохождения стажировки</a:t>
                      </a:r>
                    </a:p>
                  </a:txBody>
                  <a:tcPr marL="54864" marR="54864" marT="27432" marB="27432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000000"/>
                          </a:solidFill>
                          <a:latin typeface="Calibri"/>
                        </a:rPr>
                        <a:t>Period /</a:t>
                      </a:r>
                    </a:p>
                    <a:p>
                      <a:r>
                        <a:rPr sz="1000" b="1" i="0">
                          <a:solidFill>
                            <a:srgbClr val="000000"/>
                          </a:solidFill>
                          <a:latin typeface="Calibri"/>
                        </a:rPr>
                        <a:t>Сроки</a:t>
                      </a:r>
                    </a:p>
                  </a:txBody>
                  <a:tcPr marL="54864" marR="54864" marT="27432" marB="27432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000000"/>
                          </a:solidFill>
                          <a:latin typeface="Calibri"/>
                        </a:rPr>
                        <a:t>Results /</a:t>
                      </a:r>
                    </a:p>
                    <a:p>
                      <a:r>
                        <a:rPr sz="1000" b="1" i="0">
                          <a:solidFill>
                            <a:srgbClr val="000000"/>
                          </a:solidFill>
                          <a:latin typeface="Calibri"/>
                        </a:rPr>
                        <a:t>Результаты</a:t>
                      </a:r>
                    </a:p>
                  </a:txBody>
                  <a:tcPr marL="54864" marR="54864" marT="27432" marB="27432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000000"/>
                          </a:solidFill>
                          <a:latin typeface="Calibri"/>
                        </a:rPr>
                        <a:t>Mark /</a:t>
                      </a:r>
                    </a:p>
                    <a:p>
                      <a:r>
                        <a:rPr sz="1000" b="1" i="0">
                          <a:solidFill>
                            <a:srgbClr val="000000"/>
                          </a:solidFill>
                          <a:latin typeface="Calibri"/>
                        </a:rPr>
                        <a:t>Отметка</a:t>
                      </a:r>
                    </a:p>
                  </a:txBody>
                  <a:tcPr marL="54864" marR="54864" marT="27432" marB="27432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27432" marB="27432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[[organization]]</a:t>
                      </a:r>
                    </a:p>
                  </a:txBody>
                  <a:tcPr marL="54864" marR="54864" marT="27432" marB="27432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[[dates]]</a:t>
                      </a:r>
                    </a:p>
                  </a:txBody>
                  <a:tcPr marL="54864" marR="54864" marT="27432" marB="27432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[[results]]</a:t>
                      </a:r>
                    </a:p>
                  </a:txBody>
                  <a:tcPr marL="54864" marR="54864" marT="27432" marB="27432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[[ ]]</a:t>
                      </a:r>
                    </a:p>
                  </a:txBody>
                  <a:tcPr marL="54864" marR="54864" marT="27432" marB="27432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20040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000000"/>
                </a:solidFill>
                <a:latin typeface="Calibri"/>
              </a:rPr>
              <a:t>2. Plan for publishing scientific papers / План издания научных публикаций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3611880"/>
          <a:ext cx="11091672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47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000000"/>
                          </a:solidFill>
                          <a:latin typeface="Calibri"/>
                        </a:rPr>
                        <a:t>№</a:t>
                      </a:r>
                    </a:p>
                  </a:txBody>
                  <a:tcPr marL="54864" marR="54864" marT="27432" marB="27432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000000"/>
                          </a:solidFill>
                          <a:latin typeface="Calibri"/>
                        </a:rPr>
                        <a:t>Title of the article / thesis</a:t>
                      </a:r>
                    </a:p>
                    <a:p>
                      <a:r>
                        <a:rPr sz="1000" b="1" i="0">
                          <a:solidFill>
                            <a:srgbClr val="000000"/>
                          </a:solidFill>
                          <a:latin typeface="Calibri"/>
                        </a:rPr>
                        <a:t>Наименование статьи / тезиса</a:t>
                      </a:r>
                    </a:p>
                  </a:txBody>
                  <a:tcPr marL="54864" marR="54864" marT="27432" marB="27432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000000"/>
                          </a:solidFill>
                          <a:latin typeface="Calibri"/>
                        </a:rPr>
                        <a:t>Publication / conference</a:t>
                      </a:r>
                    </a:p>
                    <a:p>
                      <a:r>
                        <a:rPr sz="1000" b="1" i="0">
                          <a:solidFill>
                            <a:srgbClr val="000000"/>
                          </a:solidFill>
                          <a:latin typeface="Calibri"/>
                        </a:rPr>
                        <a:t>Издание / конференция</a:t>
                      </a:r>
                    </a:p>
                  </a:txBody>
                  <a:tcPr marL="54864" marR="54864" marT="27432" marB="27432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000000"/>
                          </a:solidFill>
                          <a:latin typeface="Calibri"/>
                        </a:rPr>
                        <a:t>Completion dates /</a:t>
                      </a:r>
                    </a:p>
                    <a:p>
                      <a:r>
                        <a:rPr sz="1000" b="1" i="0">
                          <a:solidFill>
                            <a:srgbClr val="000000"/>
                          </a:solidFill>
                          <a:latin typeface="Calibri"/>
                        </a:rPr>
                        <a:t>Сроки</a:t>
                      </a:r>
                    </a:p>
                  </a:txBody>
                  <a:tcPr marL="54864" marR="54864" marT="27432" marB="27432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000000"/>
                          </a:solidFill>
                          <a:latin typeface="Calibri"/>
                        </a:rPr>
                        <a:t>Mark /</a:t>
                      </a:r>
                    </a:p>
                    <a:p>
                      <a:r>
                        <a:rPr sz="1000" b="1" i="0">
                          <a:solidFill>
                            <a:srgbClr val="000000"/>
                          </a:solidFill>
                          <a:latin typeface="Calibri"/>
                        </a:rPr>
                        <a:t>Отметка</a:t>
                      </a:r>
                    </a:p>
                  </a:txBody>
                  <a:tcPr marL="54864" marR="54864" marT="27432" marB="27432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27432" marB="27432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Does Feature Richness Help? A Reproducible, Honest Evaluation of a Student Digital Twin and Its Explanation Stability Across Two Institutions</a:t>
                      </a:r>
                    </a:p>
                  </a:txBody>
                  <a:tcPr marL="54864" marR="54864" marT="27432" marB="27432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IEEE SIST 2026 — Computational Intelligence track (Applications of CI in Education)</a:t>
                      </a:r>
                    </a:p>
                  </a:txBody>
                  <a:tcPr marL="54864" marR="54864" marT="27432" marB="27432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[[submission date]]</a:t>
                      </a:r>
                    </a:p>
                  </a:txBody>
                  <a:tcPr marL="54864" marR="54864" marT="27432" marB="27432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In preparation</a:t>
                      </a:r>
                    </a:p>
                  </a:txBody>
                  <a:tcPr marL="54864" marR="54864" marT="27432" marB="27432" anchor="ctr">
                    <a:lnL w="12700" cap="flat">
                      <a:solidFill>
                        <a:srgbClr val="000000"/>
                      </a:solidFill>
                    </a:lnL>
                    <a:lnR w="12700" cap="flat">
                      <a:solidFill>
                        <a:srgbClr val="000000"/>
                      </a:solidFill>
                    </a:lnR>
                    <a:lnT w="12700" cap="flat">
                      <a:solidFill>
                        <a:srgbClr val="000000"/>
                      </a:solidFill>
                    </a:lnT>
                    <a:lnB w="12700" cap="flat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000000"/>
                </a:solidFill>
                <a:latin typeface="Calibri"/>
              </a:rPr>
              <a:t>n2. Author's publications and the master student's personal contribution / Публикации автора и персональный вклад магистранта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91672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000000"/>
                </a:solidFill>
                <a:latin typeface="Calibri"/>
              </a:rPr>
              <a:t>•  Publication (in preparation): A. Talgat. "Does Feature Richness Help? A Reproducible, Honest Evaluation of a Student Digital Twin and Its Explanation Stability Across Two Institutions." Target: IEEE SIST 2026, Computational Intelligence track.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500" b="1" i="0">
                <a:solidFill>
                  <a:srgbClr val="000000"/>
                </a:solidFill>
                <a:latin typeface="Calibri"/>
              </a:rPr>
              <a:t>•  Personal contribution of the master student: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000000"/>
                </a:solidFill>
                <a:latin typeface="Calibri"/>
              </a:rPr>
              <a:t>–  Conceived the research question and the falsifiable, dependency-driven experiment design.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000000"/>
                </a:solidFill>
                <a:latin typeface="Calibri"/>
              </a:rPr>
              <a:t>–  Built the full reproducible, leakage-aware pipeline (data model, models, ablation, XAI).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000000"/>
                </a:solidFill>
                <a:latin typeface="Calibri"/>
              </a:rPr>
              <a:t>–  Ran all experiments on OULAD DDD/BBB 2013J and KU Leuven 1819 and produced the frozen artifacts.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000000"/>
                </a:solidFill>
                <a:latin typeface="Calibri"/>
              </a:rPr>
              <a:t>–  Performed the explanation-stability analysis (Kendall τ) and wrote the manuscript.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000000"/>
                </a:solidFill>
                <a:latin typeface="Calibri"/>
              </a:rPr>
              <a:t>•  [[Add co-authors and their contribution share if applicable]]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00000"/>
                </a:solidFill>
                <a:latin typeface="Calibri"/>
              </a:rPr>
              <a:t>Conclusion / Заключение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852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0" i="0">
                <a:solidFill>
                  <a:srgbClr val="000000"/>
                </a:solidFill>
                <a:latin typeface="Calibri"/>
              </a:rPr>
              <a:t>•  The full Digital Twin was not justified: engineered feature richness does not robustly beat a competent LMS baseline.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0" i="0">
                <a:solidFill>
                  <a:srgbClr val="000000"/>
                </a:solidFill>
                <a:latin typeface="Calibri"/>
              </a:rPr>
              <a:t>•  The finding is honest and heterogeneous across 2 OULAD cohorts + 2 institutions — course- and split-dependent, not a uniform win.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0" i="0">
                <a:solidFill>
                  <a:srgbClr val="000000"/>
                </a:solidFill>
                <a:latin typeface="Calibri"/>
              </a:rPr>
              <a:t>•  XAI explanations are interpretable but regime-sensitive: Kendall τ 0.55–0.79 within a course, 0.32–0.61 across cohorts — every value below the 0.90 stability bar (heatmap).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0" i="0">
                <a:solidFill>
                  <a:srgbClr val="000000"/>
                </a:solidFill>
                <a:latin typeface="Calibri"/>
              </a:rPr>
              <a:t>•  Contribution is methodological and cautionary: a reproducible, leakage-aware protocol + teacher UI + a documented synthetic-target circularity failure mode — not an accuracy record.</a:t>
            </a:r>
          </a:p>
        </p:txBody>
      </p:sp>
      <p:pic>
        <p:nvPicPr>
          <p:cNvPr id="4" name="Picture 3" descr="xai_stability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28800"/>
            <a:ext cx="5486400" cy="28715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1082</Words>
  <Application>Microsoft Office PowerPoint</Application>
  <PresentationFormat>Widescreen</PresentationFormat>
  <Paragraphs>90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Талгатов Айбын</cp:lastModifiedBy>
  <cp:revision>1</cp:revision>
  <dcterms:created xsi:type="dcterms:W3CDTF">2013-01-27T09:14:16Z</dcterms:created>
  <dcterms:modified xsi:type="dcterms:W3CDTF">2026-06-18T19:09:29Z</dcterms:modified>
  <cp:category/>
</cp:coreProperties>
</file>