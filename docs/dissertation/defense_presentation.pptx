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Calibri"/>
              </a:rPr>
              <a:t>An Explainable Student Digital Twin for Teacher-Facing Learning Analytics</a:t>
            </a:r>
          </a:p>
          <a:p>
            <a:pPr>
              <a:spcBef>
                <a:spcPts val="1000"/>
              </a:spcBef>
            </a:pPr>
            <a:r>
              <a:rPr sz="2200" b="0" i="1">
                <a:solidFill>
                  <a:srgbClr val="9DB6E0"/>
                </a:solidFill>
                <a:latin typeface="Calibri"/>
              </a:rPr>
              <a:t>A Reproducible, Honest Evaluation Across Two Institutions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480560"/>
            <a:ext cx="10424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[[Full name]] — Astana IT University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7D4EC"/>
                </a:solidFill>
                <a:latin typeface="Calibri"/>
              </a:rPr>
              <a:t>Educational program: [[M.Sc. program / code]]  •  Period of study: [[2024–2026]]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7D4EC"/>
                </a:solidFill>
                <a:latin typeface="Calibri"/>
              </a:rPr>
              <a:t>Thesis topic: An Explainable Student Digital Twin for Teacher-Facing Learning Analytics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7D4EC"/>
                </a:solidFill>
                <a:latin typeface="Calibri"/>
              </a:rPr>
              <a:t>Supervisor: [[Name, academic degree and title, affiliation]]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1. Relevance of the research</a:t>
            </a:r>
          </a:p>
          <a:p>
            <a:r>
              <a:rPr sz="1500" b="0" i="1">
                <a:solidFill>
                  <a:srgbClr val="C7D4EC"/>
                </a:solidFill>
                <a:latin typeface="Calibri"/>
              </a:rPr>
              <a:t>Актуальность исследования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 i="0">
                <a:solidFill>
                  <a:srgbClr val="1F2A44"/>
                </a:solidFill>
                <a:latin typeface="Calibri"/>
              </a:rPr>
              <a:t>•  Learning management systems (LMS) record large volumes of student activity, but their built-in analytics are mostly descriptive — not predictive or explanatory.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1F2A44"/>
                </a:solidFill>
                <a:latin typeface="Calibri"/>
              </a:rPr>
              <a:t>•  Early-warning support needs more than a risk flag: a teacher needs to know WHY a student is at risk and HOW STABLE that signal is.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1F2A44"/>
                </a:solidFill>
                <a:latin typeface="Calibri"/>
              </a:rPr>
              <a:t>•  Digital Twin + Explainable AI (XAI) in education is an emerging topic, but exists mostly as conceptual/review work or metrics-only papers.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1F2A44"/>
                </a:solidFill>
                <a:latin typeface="Calibri"/>
              </a:rPr>
              <a:t>•  Most studies report only the best configuration on a single cohort; honest negative results and explanation-stability checks are largely missing.</a:t>
            </a:r>
          </a:p>
          <a:p>
            <a:pPr>
              <a:spcAft>
                <a:spcPts val="1200"/>
              </a:spcAft>
            </a:pPr>
            <a:r>
              <a:rPr sz="1900" b="1" i="0">
                <a:solidFill>
                  <a:srgbClr val="2E5AAC"/>
                </a:solidFill>
                <a:latin typeface="Calibri"/>
              </a:rPr>
              <a:t>•  Research gap: no implemented, end-to-end, openly evaluated teacher-facing Digital-Twin prototype on real public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2. Purpose and objectives of the research</a:t>
            </a:r>
          </a:p>
          <a:p>
            <a:r>
              <a:rPr sz="1500" b="0" i="1">
                <a:solidFill>
                  <a:srgbClr val="C7D4EC"/>
                </a:solidFill>
                <a:latin typeface="Calibri"/>
              </a:rPr>
              <a:t>Цель и задачи исследования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2E5AAC"/>
                </a:solidFill>
                <a:latin typeface="Calibri"/>
              </a:rPr>
              <a:t>•  Purpose / Цель: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    –  Design, implement, and honestly evaluate a teacher-facing Student Digital Twin with integrated XAI on real public learning-analytics data.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2E5AAC"/>
                </a:solidFill>
                <a:latin typeface="Calibri"/>
              </a:rPr>
              <a:t>•  Objectives / Задачи: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    –  1. Build a leakage-aware pipeline: raw data → weekly student-state snapshots → features.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    –  2. Test whether engineered Digital-Twin features improve prediction over a competent LMS baseline (nested ablation).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    –  3. Apply XAI (permutation + local perturbation) and measure explanation stability across splits, courses, and institutions.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    –  4. Implement a teacher-facing interface: cohort dashboard, per-student detail, XAI panel.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    –  5. Externally validate across multiple cohorts and a second institution.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3. Object and subject of research</a:t>
            </a:r>
          </a:p>
          <a:p>
            <a:r>
              <a:rPr sz="1500" b="0" i="1">
                <a:solidFill>
                  <a:srgbClr val="C7D4EC"/>
                </a:solidFill>
                <a:latin typeface="Calibri"/>
              </a:rPr>
              <a:t>Объект и предмет исследования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45920"/>
            <a:ext cx="5394960" cy="3840480"/>
          </a:xfrm>
          <a:prstGeom prst="rect">
            <a:avLst/>
          </a:prstGeom>
          <a:solidFill>
            <a:srgbClr val="EEF2FA"/>
          </a:solidFill>
          <a:ln w="1905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2200" b="1" i="0">
                <a:solidFill>
                  <a:srgbClr val="2E5AAC"/>
                </a:solidFill>
                <a:latin typeface="Calibri"/>
              </a:rPr>
              <a:t>Object / Объект</a:t>
            </a:r>
          </a:p>
          <a:p>
            <a:pPr>
              <a:spcBef>
                <a:spcPts val="1000"/>
              </a:spcBef>
            </a:pPr>
            <a:r>
              <a:rPr sz="1800" b="0" i="0">
                <a:solidFill>
                  <a:srgbClr val="1F2A44"/>
                </a:solidFill>
                <a:latin typeface="Calibri"/>
              </a:rPr>
              <a:t>Teacher-oriented educational analytics — predicting student academic performance from LMS activity data, to support early academic-risk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63640" y="1645920"/>
            <a:ext cx="5303520" cy="3840480"/>
          </a:xfrm>
          <a:prstGeom prst="rect">
            <a:avLst/>
          </a:prstGeom>
          <a:solidFill>
            <a:srgbClr val="EEF2FA"/>
          </a:solidFill>
          <a:ln w="1905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2200" b="1" i="0">
                <a:solidFill>
                  <a:srgbClr val="2E5AAC"/>
                </a:solidFill>
                <a:latin typeface="Calibri"/>
              </a:rPr>
              <a:t>Subject / Предмет</a:t>
            </a:r>
          </a:p>
          <a:p>
            <a:pPr>
              <a:spcBef>
                <a:spcPts val="1000"/>
              </a:spcBef>
            </a:pPr>
            <a:r>
              <a:rPr sz="1800" b="0" i="0">
                <a:solidFill>
                  <a:srgbClr val="1F2A44"/>
                </a:solidFill>
                <a:latin typeface="Calibri"/>
              </a:rPr>
              <a:t>A lean, time-aware Student Digital Twin representation with XAI explanations — its predictive value over an LMS baseline, and the stability of its explanations across evaluation regimes.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4. Scientific methods used  /  Initial data used</a:t>
            </a:r>
          </a:p>
          <a:p>
            <a:r>
              <a:rPr sz="1500" b="0" i="1">
                <a:solidFill>
                  <a:srgbClr val="C7D4EC"/>
                </a:solidFill>
                <a:latin typeface="Calibri"/>
              </a:rPr>
              <a:t>Применяемые научные методы / Используемые исходные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 i="0">
                <a:solidFill>
                  <a:srgbClr val="2E5AAC"/>
                </a:solidFill>
                <a:latin typeface="Calibri"/>
              </a:rPr>
              <a:t>•  Scientific methods / Методы:</a:t>
            </a:r>
          </a:p>
          <a:p>
            <a:pPr lvl="1">
              <a:spcAft>
                <a:spcPts val="7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    –  Supervised ML: Ridge, Logistic Regression, Random Forest, Gradient Boosting.</a:t>
            </a:r>
          </a:p>
          <a:p>
            <a:pPr lvl="1">
              <a:spcAft>
                <a:spcPts val="7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    –  Nested feature-set ablation: A_simple / B_lms / B_lms+mastery / C_twin (full Digital Twin).</a:t>
            </a:r>
          </a:p>
          <a:p>
            <a:pPr lvl="1">
              <a:spcAft>
                <a:spcPts val="7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    –  Leakage-aware evaluation: student-grouped (primary) + temporal-forward splits; fixed-model comparison.</a:t>
            </a:r>
          </a:p>
          <a:p>
            <a:pPr lvl="1">
              <a:spcAft>
                <a:spcPts val="7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    –  XAI: permutation importance + local median-replacement perturbation (not SHAP); Kendall-tau stability analysis.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2E5AAC"/>
                </a:solidFill>
                <a:latin typeface="Calibri"/>
              </a:rPr>
              <a:t>•  Initial data — real &amp; public / Исходные данные:</a:t>
            </a:r>
          </a:p>
          <a:p>
            <a:pPr lvl="1">
              <a:spcAft>
                <a:spcPts val="7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    –  OULAD DDD 2013J — 1,938 students, 67,830 weekly snapshots.</a:t>
            </a:r>
          </a:p>
          <a:p>
            <a:pPr lvl="1">
              <a:spcAft>
                <a:spcPts val="7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    –  OULAD BBB 2013J — 2,237 students, 80,532 snapshots.</a:t>
            </a:r>
          </a:p>
          <a:p>
            <a:pPr lvl="1">
              <a:spcAft>
                <a:spcPts val="7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    –  KU Leuven 1819 — 1,495 students (engagement-only); + a synthetic set for controlled checks.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5. Results — comparison with baselines</a:t>
            </a:r>
          </a:p>
          <a:p>
            <a:r>
              <a:rPr sz="1500" b="0" i="1">
                <a:solidFill>
                  <a:srgbClr val="C7D4EC"/>
                </a:solidFill>
                <a:latin typeface="Calibri"/>
              </a:rPr>
              <a:t>Результаты — сравнение с базовыми моделями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371600"/>
                <a:gridCol w="1280160"/>
                <a:gridCol w="1463040"/>
                <a:gridCol w="1828800"/>
                <a:gridCol w="1554480"/>
              </a:tblGrid>
              <a:tr h="4876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Per-student XAI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Teacher UI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Logistic Regression (ours)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0.854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0.951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Random Forest (ours)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13.633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0.861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0.947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GB, LMS-only (ours)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12.658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0.863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0.953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GB + Twin + XAI (this work)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12.724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0.861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0.953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GB + SHAP (literature)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0.911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0.993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4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709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OULAD DDD 2013J, student-grouped split (test=0.25, seed=42). RMSE on 0–100 score; F1/ROC-AUC for pass/fail.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B43333"/>
                </a:solidFill>
                <a:latin typeface="Calibri"/>
              </a:rPr>
              <a:t>•  Adding mastery (Twin) features did NOT beat the LMS baseline: ΔRMSE = +0.066, ΔF1 = −0.002 — the honest negative result.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B7F4B"/>
                </a:solidFill>
                <a:latin typeface="Calibri"/>
              </a:rPr>
              <a:t>•  Contribution is end-to-end teacher UI + per-student XAI, not raw accuracy superiority.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5. Results — when do Twin features help? + XAI stability</a:t>
            </a:r>
          </a:p>
          <a:p>
            <a:r>
              <a:rPr sz="1500" b="0" i="1">
                <a:solidFill>
                  <a:srgbClr val="C7D4EC"/>
                </a:solidFill>
                <a:latin typeface="Calibri"/>
              </a:rPr>
              <a:t>Результаты — когда помогает «цифровой двойник» и устойчивость объяснений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881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840480"/>
                <a:gridCol w="3840480"/>
              </a:tblGrid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Cohort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Student-grouped split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Temporal-forward split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A44"/>
                          </a:solidFill>
                          <a:latin typeface="Calibri"/>
                        </a:rPr>
                        <a:t>OULAD DDD 2013J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A44"/>
                          </a:solidFill>
                          <a:latin typeface="Calibri"/>
                        </a:rPr>
                        <a:t>null  (mastery +0.061)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A44"/>
                          </a:solidFill>
                          <a:latin typeface="Calibri"/>
                        </a:rPr>
                        <a:t>weak  (mastery −0.381)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A44"/>
                          </a:solidFill>
                          <a:latin typeface="Calibri"/>
                        </a:rPr>
                        <a:t>OULAD BBB 2013J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A44"/>
                          </a:solidFill>
                          <a:latin typeface="Calibri"/>
                        </a:rPr>
                        <a:t>null  (all ≤ 0.087)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A44"/>
                          </a:solidFill>
                          <a:latin typeface="Calibri"/>
                        </a:rPr>
                        <a:t>significant  (mastery −1.026)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3832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 i="0">
                <a:solidFill>
                  <a:srgbClr val="2E5AAC"/>
                </a:solidFill>
                <a:latin typeface="Calibri"/>
              </a:rPr>
              <a:t>•  Twin value is course- and split-dependent — NOT a robust improvement (RMSE points; lower = better).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•  XAI explanations are regime-sensitive: Kendall τ 0.55–0.79 within a course (mean 0.67); 0.32–0.61 across courses (mean 0.52); none ≥ 0.90.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•  → Explanations describe model behaviour under a given evaluation scenario, not stable causal rankings.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1B7F4B"/>
                </a:solidFill>
                <a:latin typeface="Calibri"/>
              </a:rPr>
              <a:t>•  Real-data classification is genuinely predictive (F1 0.83–0.93, never 1.000) — confirms the result is not an artifact.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Conclusions on the scientific work done for each task</a:t>
            </a:r>
          </a:p>
          <a:p>
            <a:r>
              <a:rPr sz="1500" b="0" i="1">
                <a:solidFill>
                  <a:srgbClr val="C7D4EC"/>
                </a:solidFill>
                <a:latin typeface="Calibri"/>
              </a:rPr>
              <a:t>Выводы по проделанной научной работе по каждой задаче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1F2A44"/>
                </a:solidFill>
                <a:latin typeface="Calibri"/>
              </a:rPr>
              <a:t>•  Task 1 — Pipeline: delivered. Reproducible, leakage-aware; 12 frozen experiments + versioned artifacts.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F2A44"/>
                </a:solidFill>
                <a:latin typeface="Calibri"/>
              </a:rPr>
              <a:t>•  Task 2 — Ablation: engineered Twin features do NOT robustly beat the LMS baseline — mixed/null on DDD, partial on BBB.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F2A44"/>
                </a:solidFill>
                <a:latin typeface="Calibri"/>
              </a:rPr>
              <a:t>•  Task 3 — XAI stability: explanations are interpretable but regime-sensitive (Kendall τ &lt; 0.90 in every comparison).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F2A44"/>
                </a:solidFill>
                <a:latin typeface="Calibri"/>
              </a:rPr>
              <a:t>•  Task 4 — Teacher interface: full end-to-end UI with per-student XAI and explicit limitation notice; no published academic equivalent.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F2A44"/>
                </a:solidFill>
                <a:latin typeface="Calibri"/>
              </a:rPr>
              <a:t>•  Task 5 — External validation: across 3 real cohorts / 2 institutions, adding feature richness does not robustly help.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2E5AAC"/>
                </a:solidFill>
                <a:latin typeface="Calibri"/>
              </a:rPr>
              <a:t>•  Methodological by-product: documented synthetic-target circularity (R²≈0.99, F1=1.000 are algebraic artifacts).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6. Results of the implementation of the IMWP</a:t>
            </a:r>
          </a:p>
          <a:p>
            <a:r>
              <a:rPr sz="1500" b="0" i="1">
                <a:solidFill>
                  <a:srgbClr val="C7D4EC"/>
                </a:solidFill>
                <a:latin typeface="Calibri"/>
              </a:rPr>
              <a:t>Результаты выполнения ИПРМ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5AAC"/>
                </a:solidFill>
                <a:latin typeface="Calibri"/>
              </a:rPr>
              <a:t>1. Scientific internships / Научная стажировка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657600"/>
                <a:gridCol w="2286000"/>
                <a:gridCol w="3200400"/>
                <a:gridCol w="137160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№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Internship organization / Место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Period / Сроки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Results / Результаты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Mark / Отметка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44"/>
                          </a:solidFill>
                          <a:latin typeface="Calibri"/>
                        </a:rPr>
                        <a:t>[[organization]]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44"/>
                          </a:solidFill>
                          <a:latin typeface="Calibri"/>
                        </a:rPr>
                        <a:t>[[dates]]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44"/>
                          </a:solidFill>
                          <a:latin typeface="Calibri"/>
                        </a:rPr>
                        <a:t>[[results]]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44"/>
                          </a:solidFill>
                          <a:latin typeface="Calibri"/>
                        </a:rPr>
                        <a:t>[[ ]]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5AAC"/>
                </a:solidFill>
                <a:latin typeface="Calibri"/>
              </a:rPr>
              <a:t>2. Plan for publishing scientific papers / План издания научных публикаций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70332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206240"/>
                <a:gridCol w="3566160"/>
                <a:gridCol w="1371600"/>
                <a:gridCol w="1371600"/>
              </a:tblGrid>
              <a:tr h="4876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№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Title of article/thesis / Наименование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Publication / conference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Dates / Сроки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Mark</a:t>
                      </a:r>
                    </a:p>
                  </a:txBody>
                  <a:tcPr marL="54864" marR="54864" marT="27432" marB="27432" anchor="ctr">
                    <a:solidFill>
                      <a:srgbClr val="2E5AAC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44"/>
                          </a:solidFill>
                          <a:latin typeface="Calibri"/>
                        </a:rPr>
                        <a:t>An Explainable Student Digital Twin for Teacher-Facing Learning Analytics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44"/>
                          </a:solidFill>
                          <a:latin typeface="Calibri"/>
                        </a:rPr>
                        <a:t>IEEE SIST 2026 (Computational Intelligence track)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44"/>
                          </a:solidFill>
                          <a:latin typeface="Calibri"/>
                        </a:rPr>
                        <a:t>[[date]]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44"/>
                          </a:solidFill>
                          <a:latin typeface="Calibri"/>
                        </a:rPr>
                        <a:t>[[ ]]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44"/>
                          </a:solidFill>
                          <a:latin typeface="Calibri"/>
                        </a:rPr>
                        <a:t>[[optional second paper]]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44"/>
                          </a:solidFill>
                          <a:latin typeface="Calibri"/>
                        </a:rPr>
                        <a:t>[[journal / conference]]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44"/>
                          </a:solidFill>
                          <a:latin typeface="Calibri"/>
                        </a:rPr>
                        <a:t>[[date]]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44"/>
                          </a:solidFill>
                          <a:latin typeface="Calibri"/>
                        </a:rPr>
                        <a:t>[[ ]]</a:t>
                      </a:r>
                    </a:p>
                  </a:txBody>
                  <a:tcPr marL="54864" marR="54864" marT="27432" marB="27432" anchor="ctr"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55B66"/>
                </a:solidFill>
                <a:latin typeface="Calibri"/>
              </a:rPr>
              <a:t>Fill internship and publication rows with your actual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Author's publications and personal contribution</a:t>
            </a:r>
          </a:p>
          <a:p>
            <a:r>
              <a:rPr sz="1500" b="0" i="1">
                <a:solidFill>
                  <a:srgbClr val="C7D4EC"/>
                </a:solidFill>
                <a:latin typeface="Calibri"/>
              </a:rPr>
              <a:t>Публикации автора и персональный вклад магистранта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 i="0">
                <a:solidFill>
                  <a:srgbClr val="2E5AAC"/>
                </a:solidFill>
                <a:latin typeface="Calibri"/>
              </a:rPr>
              <a:t>•  Publication / Публикация: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    –  [[Author list]]. "An Explainable Student Digital Twin for Teacher-Facing Learning Analytics: A Reproducible, Honest Evaluation Across Two Institutions." IEEE SIST 2026 — status: [[submitted / accepted / in preparation]].</a:t>
            </a:r>
          </a:p>
          <a:p>
            <a:pPr>
              <a:spcAft>
                <a:spcPts val="900"/>
              </a:spcAft>
            </a:pPr>
            <a:r>
              <a:rPr sz="1700" b="1" i="0">
                <a:solidFill>
                  <a:srgbClr val="2E5AAC"/>
                </a:solidFill>
                <a:latin typeface="Calibri"/>
              </a:rPr>
              <a:t>•  Personal contribution of the master student / Персональный вклад: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    –  System and data-model design; full implementation of the ML pipeline and teacher web interface.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    –  Design and execution of all 12 experiments (ablation, XAI, stability, cross-institution).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    –  Identification and documentation of the synthetic-target circularity failure mode.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    –  Analysis, interpretation, and writing of the manuscript.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Conclusion</a:t>
            </a:r>
          </a:p>
          <a:p>
            <a:r>
              <a:rPr sz="1500" b="0" i="1">
                <a:solidFill>
                  <a:srgbClr val="C7D4EC"/>
                </a:solidFill>
                <a:latin typeface="Calibri"/>
              </a:rP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 i="0">
                <a:solidFill>
                  <a:srgbClr val="2E5AAC"/>
                </a:solidFill>
                <a:latin typeface="Calibri"/>
              </a:rPr>
              <a:t>•  The contribution is methodological and system-level — not an accuracy record.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F2A44"/>
                </a:solidFill>
                <a:latin typeface="Calibri"/>
              </a:rPr>
              <a:t>•  Honest multi-cohort finding: engineered Digital-Twin features do not robustly beat a competent LMS baseline (mixed/null on DDD; partial on BBB; second institution cannot even build the ablation).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F2A44"/>
                </a:solidFill>
                <a:latin typeface="Calibri"/>
              </a:rPr>
              <a:t>•  Explanation-stability analysis: XAI importance rankings are regime-sensitive within a course and partly course-specific across courses.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F2A44"/>
                </a:solidFill>
                <a:latin typeface="Calibri"/>
              </a:rPr>
              <a:t>•  Documented synthetic-data circularity as a cautionary failure mode for the field.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F2A44"/>
                </a:solidFill>
                <a:latin typeface="Calibri"/>
              </a:rPr>
              <a:t>•  Teacher-facing prototype with explicit XAI caveats — unique among reviewed academic work.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B7F4B"/>
                </a:solidFill>
                <a:latin typeface="Calibri"/>
              </a:rPr>
              <a:t>•  Future work: external validation across more institutions; validated intervention / counterfactual reasoning.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